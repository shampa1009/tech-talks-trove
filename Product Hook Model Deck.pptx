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2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76"/>
  </p:normalViewPr>
  <p:slideViewPr>
    <p:cSldViewPr snapToGrid="0" snapToObjects="1">
      <p:cViewPr varScale="1">
        <p:scale>
          <a:sx n="152" d="100"/>
          <a:sy n="152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C20407-9610-FE4D-9A97-56F5E5082B99}" type="doc">
      <dgm:prSet loTypeId="urn:microsoft.com/office/officeart/2005/8/layout/cycle2" loCatId="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9F7B246-32FE-5D48-9996-A0A115BF5A66}">
      <dgm:prSet phldrT="[Text]"/>
      <dgm:spPr/>
      <dgm:t>
        <a:bodyPr/>
        <a:lstStyle/>
        <a:p>
          <a:r>
            <a:rPr lang="en-US" dirty="0"/>
            <a:t>Trigger</a:t>
          </a:r>
        </a:p>
      </dgm:t>
    </dgm:pt>
    <dgm:pt modelId="{F7212928-8AD7-794C-B189-0707220A538D}" type="parTrans" cxnId="{EB06FD68-0171-CF42-B6BB-482715FD7AFB}">
      <dgm:prSet/>
      <dgm:spPr/>
      <dgm:t>
        <a:bodyPr/>
        <a:lstStyle/>
        <a:p>
          <a:endParaRPr lang="en-US"/>
        </a:p>
      </dgm:t>
    </dgm:pt>
    <dgm:pt modelId="{5AFFB098-A4B7-CE4E-B28C-57C2C117A648}" type="sibTrans" cxnId="{EB06FD68-0171-CF42-B6BB-482715FD7AFB}">
      <dgm:prSet/>
      <dgm:spPr/>
      <dgm:t>
        <a:bodyPr/>
        <a:lstStyle/>
        <a:p>
          <a:endParaRPr lang="en-US"/>
        </a:p>
      </dgm:t>
    </dgm:pt>
    <dgm:pt modelId="{82A29DE5-07D4-9841-8240-8B8DE80D2300}">
      <dgm:prSet phldrT="[Text]"/>
      <dgm:spPr/>
      <dgm:t>
        <a:bodyPr/>
        <a:lstStyle/>
        <a:p>
          <a:r>
            <a:rPr lang="en-US" dirty="0"/>
            <a:t>Action</a:t>
          </a:r>
        </a:p>
      </dgm:t>
    </dgm:pt>
    <dgm:pt modelId="{2779D7B7-7702-8242-95EB-D15BE84F5E79}" type="parTrans" cxnId="{50F1D19C-D24C-FF47-B3F7-763CEA8DFAE9}">
      <dgm:prSet/>
      <dgm:spPr/>
      <dgm:t>
        <a:bodyPr/>
        <a:lstStyle/>
        <a:p>
          <a:endParaRPr lang="en-US"/>
        </a:p>
      </dgm:t>
    </dgm:pt>
    <dgm:pt modelId="{7DE45CF0-0194-984B-A635-F0C188B3E145}" type="sibTrans" cxnId="{50F1D19C-D24C-FF47-B3F7-763CEA8DFAE9}">
      <dgm:prSet/>
      <dgm:spPr/>
      <dgm:t>
        <a:bodyPr/>
        <a:lstStyle/>
        <a:p>
          <a:endParaRPr lang="en-US"/>
        </a:p>
      </dgm:t>
    </dgm:pt>
    <dgm:pt modelId="{03F7DEA0-9F1C-F941-93B4-C79D1912CE4D}">
      <dgm:prSet phldrT="[Text]"/>
      <dgm:spPr/>
      <dgm:t>
        <a:bodyPr/>
        <a:lstStyle/>
        <a:p>
          <a:r>
            <a:rPr lang="en-US" dirty="0"/>
            <a:t>Reward</a:t>
          </a:r>
        </a:p>
      </dgm:t>
    </dgm:pt>
    <dgm:pt modelId="{E6F4A78B-BF3E-6A4F-849F-ED82C427FBA7}" type="parTrans" cxnId="{F90881D0-6738-024B-B4BC-36A7B92CD98B}">
      <dgm:prSet/>
      <dgm:spPr/>
      <dgm:t>
        <a:bodyPr/>
        <a:lstStyle/>
        <a:p>
          <a:endParaRPr lang="en-US"/>
        </a:p>
      </dgm:t>
    </dgm:pt>
    <dgm:pt modelId="{07F91665-E87C-1D46-87EA-66D1670B4954}" type="sibTrans" cxnId="{F90881D0-6738-024B-B4BC-36A7B92CD98B}">
      <dgm:prSet/>
      <dgm:spPr/>
      <dgm:t>
        <a:bodyPr/>
        <a:lstStyle/>
        <a:p>
          <a:endParaRPr lang="en-US"/>
        </a:p>
      </dgm:t>
    </dgm:pt>
    <dgm:pt modelId="{BA5AF892-39F3-3B46-A791-78ED32F9B949}">
      <dgm:prSet phldrT="[Text]"/>
      <dgm:spPr/>
      <dgm:t>
        <a:bodyPr/>
        <a:lstStyle/>
        <a:p>
          <a:r>
            <a:rPr lang="en-US" dirty="0"/>
            <a:t>Investment</a:t>
          </a:r>
        </a:p>
      </dgm:t>
    </dgm:pt>
    <dgm:pt modelId="{D3939738-1C41-FE4D-B5B2-B87D93ECEBF3}" type="parTrans" cxnId="{A8A3226B-4D85-914F-9077-82CD0D5BEFE8}">
      <dgm:prSet/>
      <dgm:spPr/>
      <dgm:t>
        <a:bodyPr/>
        <a:lstStyle/>
        <a:p>
          <a:endParaRPr lang="en-US"/>
        </a:p>
      </dgm:t>
    </dgm:pt>
    <dgm:pt modelId="{12A55B2B-CCBA-BE4A-BE10-93398BFAED3E}" type="sibTrans" cxnId="{A8A3226B-4D85-914F-9077-82CD0D5BEFE8}">
      <dgm:prSet/>
      <dgm:spPr/>
      <dgm:t>
        <a:bodyPr/>
        <a:lstStyle/>
        <a:p>
          <a:endParaRPr lang="en-US"/>
        </a:p>
      </dgm:t>
    </dgm:pt>
    <dgm:pt modelId="{A132FC85-A46C-A74A-A3BB-3D7867EBABB4}" type="pres">
      <dgm:prSet presAssocID="{48C20407-9610-FE4D-9A97-56F5E5082B99}" presName="cycle" presStyleCnt="0">
        <dgm:presLayoutVars>
          <dgm:dir/>
          <dgm:resizeHandles val="exact"/>
        </dgm:presLayoutVars>
      </dgm:prSet>
      <dgm:spPr/>
    </dgm:pt>
    <dgm:pt modelId="{DEEF0ACD-0312-8C47-878A-9023209280C9}" type="pres">
      <dgm:prSet presAssocID="{29F7B246-32FE-5D48-9996-A0A115BF5A66}" presName="node" presStyleLbl="node1" presStyleIdx="0" presStyleCnt="4">
        <dgm:presLayoutVars>
          <dgm:bulletEnabled val="1"/>
        </dgm:presLayoutVars>
      </dgm:prSet>
      <dgm:spPr/>
    </dgm:pt>
    <dgm:pt modelId="{BDF68D13-1E5E-3C4A-8591-A6F88E08FA6E}" type="pres">
      <dgm:prSet presAssocID="{5AFFB098-A4B7-CE4E-B28C-57C2C117A648}" presName="sibTrans" presStyleLbl="sibTrans2D1" presStyleIdx="0" presStyleCnt="4"/>
      <dgm:spPr/>
    </dgm:pt>
    <dgm:pt modelId="{CF0C8725-1DA0-2D4E-8A79-DC38D7A398A7}" type="pres">
      <dgm:prSet presAssocID="{5AFFB098-A4B7-CE4E-B28C-57C2C117A648}" presName="connectorText" presStyleLbl="sibTrans2D1" presStyleIdx="0" presStyleCnt="4"/>
      <dgm:spPr/>
    </dgm:pt>
    <dgm:pt modelId="{FB6DB8D9-5133-3944-A651-366EB39F68EA}" type="pres">
      <dgm:prSet presAssocID="{82A29DE5-07D4-9841-8240-8B8DE80D2300}" presName="node" presStyleLbl="node1" presStyleIdx="1" presStyleCnt="4">
        <dgm:presLayoutVars>
          <dgm:bulletEnabled val="1"/>
        </dgm:presLayoutVars>
      </dgm:prSet>
      <dgm:spPr/>
    </dgm:pt>
    <dgm:pt modelId="{44CB51E6-0B46-3B4A-BF0A-D0AE3A0D95FA}" type="pres">
      <dgm:prSet presAssocID="{7DE45CF0-0194-984B-A635-F0C188B3E145}" presName="sibTrans" presStyleLbl="sibTrans2D1" presStyleIdx="1" presStyleCnt="4"/>
      <dgm:spPr/>
    </dgm:pt>
    <dgm:pt modelId="{07BF90A6-1C28-834A-9DBE-AE1613B633FC}" type="pres">
      <dgm:prSet presAssocID="{7DE45CF0-0194-984B-A635-F0C188B3E145}" presName="connectorText" presStyleLbl="sibTrans2D1" presStyleIdx="1" presStyleCnt="4"/>
      <dgm:spPr/>
    </dgm:pt>
    <dgm:pt modelId="{E057A486-2CE8-F54C-A40D-1A38ADF06F01}" type="pres">
      <dgm:prSet presAssocID="{03F7DEA0-9F1C-F941-93B4-C79D1912CE4D}" presName="node" presStyleLbl="node1" presStyleIdx="2" presStyleCnt="4">
        <dgm:presLayoutVars>
          <dgm:bulletEnabled val="1"/>
        </dgm:presLayoutVars>
      </dgm:prSet>
      <dgm:spPr/>
    </dgm:pt>
    <dgm:pt modelId="{C6C7579D-86D5-C541-82B7-93A6EEFFAE98}" type="pres">
      <dgm:prSet presAssocID="{07F91665-E87C-1D46-87EA-66D1670B4954}" presName="sibTrans" presStyleLbl="sibTrans2D1" presStyleIdx="2" presStyleCnt="4"/>
      <dgm:spPr/>
    </dgm:pt>
    <dgm:pt modelId="{6B0C7779-F94B-5949-8823-35B28244F401}" type="pres">
      <dgm:prSet presAssocID="{07F91665-E87C-1D46-87EA-66D1670B4954}" presName="connectorText" presStyleLbl="sibTrans2D1" presStyleIdx="2" presStyleCnt="4"/>
      <dgm:spPr/>
    </dgm:pt>
    <dgm:pt modelId="{F2AE8575-87A4-D640-AA6E-D34ACF29D794}" type="pres">
      <dgm:prSet presAssocID="{BA5AF892-39F3-3B46-A791-78ED32F9B949}" presName="node" presStyleLbl="node1" presStyleIdx="3" presStyleCnt="4">
        <dgm:presLayoutVars>
          <dgm:bulletEnabled val="1"/>
        </dgm:presLayoutVars>
      </dgm:prSet>
      <dgm:spPr/>
    </dgm:pt>
    <dgm:pt modelId="{7BE4D65A-1B36-8340-9909-2C7C97404C8D}" type="pres">
      <dgm:prSet presAssocID="{12A55B2B-CCBA-BE4A-BE10-93398BFAED3E}" presName="sibTrans" presStyleLbl="sibTrans2D1" presStyleIdx="3" presStyleCnt="4"/>
      <dgm:spPr/>
    </dgm:pt>
    <dgm:pt modelId="{205543F2-3DFD-8446-BA15-6F46C7309E9E}" type="pres">
      <dgm:prSet presAssocID="{12A55B2B-CCBA-BE4A-BE10-93398BFAED3E}" presName="connectorText" presStyleLbl="sibTrans2D1" presStyleIdx="3" presStyleCnt="4"/>
      <dgm:spPr/>
    </dgm:pt>
  </dgm:ptLst>
  <dgm:cxnLst>
    <dgm:cxn modelId="{FD131B02-48C8-F949-B0B2-5C5E76D8C0AD}" type="presOf" srcId="{48C20407-9610-FE4D-9A97-56F5E5082B99}" destId="{A132FC85-A46C-A74A-A3BB-3D7867EBABB4}" srcOrd="0" destOrd="0" presId="urn:microsoft.com/office/officeart/2005/8/layout/cycle2"/>
    <dgm:cxn modelId="{AB96961D-FAAD-6548-9216-2AB68E0DBDD4}" type="presOf" srcId="{BA5AF892-39F3-3B46-A791-78ED32F9B949}" destId="{F2AE8575-87A4-D640-AA6E-D34ACF29D794}" srcOrd="0" destOrd="0" presId="urn:microsoft.com/office/officeart/2005/8/layout/cycle2"/>
    <dgm:cxn modelId="{559EFA4D-C963-F94D-A205-1BBCD7098AB7}" type="presOf" srcId="{82A29DE5-07D4-9841-8240-8B8DE80D2300}" destId="{FB6DB8D9-5133-3944-A651-366EB39F68EA}" srcOrd="0" destOrd="0" presId="urn:microsoft.com/office/officeart/2005/8/layout/cycle2"/>
    <dgm:cxn modelId="{94BAC351-00F0-AD44-AA5D-BF2EFD16802E}" type="presOf" srcId="{12A55B2B-CCBA-BE4A-BE10-93398BFAED3E}" destId="{205543F2-3DFD-8446-BA15-6F46C7309E9E}" srcOrd="1" destOrd="0" presId="urn:microsoft.com/office/officeart/2005/8/layout/cycle2"/>
    <dgm:cxn modelId="{B5A66054-F885-AB46-AA68-05071D72FF0F}" type="presOf" srcId="{07F91665-E87C-1D46-87EA-66D1670B4954}" destId="{C6C7579D-86D5-C541-82B7-93A6EEFFAE98}" srcOrd="0" destOrd="0" presId="urn:microsoft.com/office/officeart/2005/8/layout/cycle2"/>
    <dgm:cxn modelId="{2A732D60-A12C-B443-8885-C1353E564BE8}" type="presOf" srcId="{5AFFB098-A4B7-CE4E-B28C-57C2C117A648}" destId="{CF0C8725-1DA0-2D4E-8A79-DC38D7A398A7}" srcOrd="1" destOrd="0" presId="urn:microsoft.com/office/officeart/2005/8/layout/cycle2"/>
    <dgm:cxn modelId="{EB06FD68-0171-CF42-B6BB-482715FD7AFB}" srcId="{48C20407-9610-FE4D-9A97-56F5E5082B99}" destId="{29F7B246-32FE-5D48-9996-A0A115BF5A66}" srcOrd="0" destOrd="0" parTransId="{F7212928-8AD7-794C-B189-0707220A538D}" sibTransId="{5AFFB098-A4B7-CE4E-B28C-57C2C117A648}"/>
    <dgm:cxn modelId="{A8A3226B-4D85-914F-9077-82CD0D5BEFE8}" srcId="{48C20407-9610-FE4D-9A97-56F5E5082B99}" destId="{BA5AF892-39F3-3B46-A791-78ED32F9B949}" srcOrd="3" destOrd="0" parTransId="{D3939738-1C41-FE4D-B5B2-B87D93ECEBF3}" sibTransId="{12A55B2B-CCBA-BE4A-BE10-93398BFAED3E}"/>
    <dgm:cxn modelId="{15163E7A-774F-FF48-BBA5-C84C41F4E621}" type="presOf" srcId="{07F91665-E87C-1D46-87EA-66D1670B4954}" destId="{6B0C7779-F94B-5949-8823-35B28244F401}" srcOrd="1" destOrd="0" presId="urn:microsoft.com/office/officeart/2005/8/layout/cycle2"/>
    <dgm:cxn modelId="{8B5D1E87-D642-B242-9833-E46EA3248740}" type="presOf" srcId="{03F7DEA0-9F1C-F941-93B4-C79D1912CE4D}" destId="{E057A486-2CE8-F54C-A40D-1A38ADF06F01}" srcOrd="0" destOrd="0" presId="urn:microsoft.com/office/officeart/2005/8/layout/cycle2"/>
    <dgm:cxn modelId="{87BDD294-B431-CC45-B529-6A6D9099BF94}" type="presOf" srcId="{29F7B246-32FE-5D48-9996-A0A115BF5A66}" destId="{DEEF0ACD-0312-8C47-878A-9023209280C9}" srcOrd="0" destOrd="0" presId="urn:microsoft.com/office/officeart/2005/8/layout/cycle2"/>
    <dgm:cxn modelId="{BBBB679C-10EB-3F47-9C66-1A3F26F05933}" type="presOf" srcId="{7DE45CF0-0194-984B-A635-F0C188B3E145}" destId="{44CB51E6-0B46-3B4A-BF0A-D0AE3A0D95FA}" srcOrd="0" destOrd="0" presId="urn:microsoft.com/office/officeart/2005/8/layout/cycle2"/>
    <dgm:cxn modelId="{5EA87F9C-9662-E941-9324-5D195378C36F}" type="presOf" srcId="{7DE45CF0-0194-984B-A635-F0C188B3E145}" destId="{07BF90A6-1C28-834A-9DBE-AE1613B633FC}" srcOrd="1" destOrd="0" presId="urn:microsoft.com/office/officeart/2005/8/layout/cycle2"/>
    <dgm:cxn modelId="{50F1D19C-D24C-FF47-B3F7-763CEA8DFAE9}" srcId="{48C20407-9610-FE4D-9A97-56F5E5082B99}" destId="{82A29DE5-07D4-9841-8240-8B8DE80D2300}" srcOrd="1" destOrd="0" parTransId="{2779D7B7-7702-8242-95EB-D15BE84F5E79}" sibTransId="{7DE45CF0-0194-984B-A635-F0C188B3E145}"/>
    <dgm:cxn modelId="{C7D39AB0-DB31-9B42-B66F-D5BE641FFB26}" type="presOf" srcId="{12A55B2B-CCBA-BE4A-BE10-93398BFAED3E}" destId="{7BE4D65A-1B36-8340-9909-2C7C97404C8D}" srcOrd="0" destOrd="0" presId="urn:microsoft.com/office/officeart/2005/8/layout/cycle2"/>
    <dgm:cxn modelId="{4BD707C0-79AA-8E46-AD98-E129D99B603F}" type="presOf" srcId="{5AFFB098-A4B7-CE4E-B28C-57C2C117A648}" destId="{BDF68D13-1E5E-3C4A-8591-A6F88E08FA6E}" srcOrd="0" destOrd="0" presId="urn:microsoft.com/office/officeart/2005/8/layout/cycle2"/>
    <dgm:cxn modelId="{F90881D0-6738-024B-B4BC-36A7B92CD98B}" srcId="{48C20407-9610-FE4D-9A97-56F5E5082B99}" destId="{03F7DEA0-9F1C-F941-93B4-C79D1912CE4D}" srcOrd="2" destOrd="0" parTransId="{E6F4A78B-BF3E-6A4F-849F-ED82C427FBA7}" sibTransId="{07F91665-E87C-1D46-87EA-66D1670B4954}"/>
    <dgm:cxn modelId="{D43B481B-DBD5-1743-91C0-F908E56583DB}" type="presParOf" srcId="{A132FC85-A46C-A74A-A3BB-3D7867EBABB4}" destId="{DEEF0ACD-0312-8C47-878A-9023209280C9}" srcOrd="0" destOrd="0" presId="urn:microsoft.com/office/officeart/2005/8/layout/cycle2"/>
    <dgm:cxn modelId="{53C66DCE-5BE4-5146-8191-44C9765D07B3}" type="presParOf" srcId="{A132FC85-A46C-A74A-A3BB-3D7867EBABB4}" destId="{BDF68D13-1E5E-3C4A-8591-A6F88E08FA6E}" srcOrd="1" destOrd="0" presId="urn:microsoft.com/office/officeart/2005/8/layout/cycle2"/>
    <dgm:cxn modelId="{FC0F8BBF-1A49-1D4A-B7CE-B9E51851876B}" type="presParOf" srcId="{BDF68D13-1E5E-3C4A-8591-A6F88E08FA6E}" destId="{CF0C8725-1DA0-2D4E-8A79-DC38D7A398A7}" srcOrd="0" destOrd="0" presId="urn:microsoft.com/office/officeart/2005/8/layout/cycle2"/>
    <dgm:cxn modelId="{F25E6C33-B315-5949-AED0-3DF760905D1C}" type="presParOf" srcId="{A132FC85-A46C-A74A-A3BB-3D7867EBABB4}" destId="{FB6DB8D9-5133-3944-A651-366EB39F68EA}" srcOrd="2" destOrd="0" presId="urn:microsoft.com/office/officeart/2005/8/layout/cycle2"/>
    <dgm:cxn modelId="{CA5F413A-97B7-C34B-A0C4-5B0BBE8A8ADD}" type="presParOf" srcId="{A132FC85-A46C-A74A-A3BB-3D7867EBABB4}" destId="{44CB51E6-0B46-3B4A-BF0A-D0AE3A0D95FA}" srcOrd="3" destOrd="0" presId="urn:microsoft.com/office/officeart/2005/8/layout/cycle2"/>
    <dgm:cxn modelId="{14541732-C7CF-654D-98CA-0B87464A2E20}" type="presParOf" srcId="{44CB51E6-0B46-3B4A-BF0A-D0AE3A0D95FA}" destId="{07BF90A6-1C28-834A-9DBE-AE1613B633FC}" srcOrd="0" destOrd="0" presId="urn:microsoft.com/office/officeart/2005/8/layout/cycle2"/>
    <dgm:cxn modelId="{99888E5E-555B-EB43-981E-AB3E67FD2CCD}" type="presParOf" srcId="{A132FC85-A46C-A74A-A3BB-3D7867EBABB4}" destId="{E057A486-2CE8-F54C-A40D-1A38ADF06F01}" srcOrd="4" destOrd="0" presId="urn:microsoft.com/office/officeart/2005/8/layout/cycle2"/>
    <dgm:cxn modelId="{3CA025FB-FE9E-274A-9894-8E531D0D510F}" type="presParOf" srcId="{A132FC85-A46C-A74A-A3BB-3D7867EBABB4}" destId="{C6C7579D-86D5-C541-82B7-93A6EEFFAE98}" srcOrd="5" destOrd="0" presId="urn:microsoft.com/office/officeart/2005/8/layout/cycle2"/>
    <dgm:cxn modelId="{86759DC1-C61A-9F43-BFD0-E0D4F8CEE3E4}" type="presParOf" srcId="{C6C7579D-86D5-C541-82B7-93A6EEFFAE98}" destId="{6B0C7779-F94B-5949-8823-35B28244F401}" srcOrd="0" destOrd="0" presId="urn:microsoft.com/office/officeart/2005/8/layout/cycle2"/>
    <dgm:cxn modelId="{5B1E73C1-AE21-274E-A4F6-C657C4FADDF9}" type="presParOf" srcId="{A132FC85-A46C-A74A-A3BB-3D7867EBABB4}" destId="{F2AE8575-87A4-D640-AA6E-D34ACF29D794}" srcOrd="6" destOrd="0" presId="urn:microsoft.com/office/officeart/2005/8/layout/cycle2"/>
    <dgm:cxn modelId="{A6D6AEB0-CEC3-A144-B3E2-7CE2CB290EB0}" type="presParOf" srcId="{A132FC85-A46C-A74A-A3BB-3D7867EBABB4}" destId="{7BE4D65A-1B36-8340-9909-2C7C97404C8D}" srcOrd="7" destOrd="0" presId="urn:microsoft.com/office/officeart/2005/8/layout/cycle2"/>
    <dgm:cxn modelId="{FFCD7EC0-62A3-C34A-BBE1-ADEFD49DBD5D}" type="presParOf" srcId="{7BE4D65A-1B36-8340-9909-2C7C97404C8D}" destId="{205543F2-3DFD-8446-BA15-6F46C7309E9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F0ACD-0312-8C47-878A-9023209280C9}">
      <dsp:nvSpPr>
        <dsp:cNvPr id="0" name=""/>
        <dsp:cNvSpPr/>
      </dsp:nvSpPr>
      <dsp:spPr>
        <a:xfrm>
          <a:off x="2054723" y="157"/>
          <a:ext cx="1434786" cy="14347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Trigger</a:t>
          </a:r>
        </a:p>
      </dsp:txBody>
      <dsp:txXfrm>
        <a:off x="2264843" y="210277"/>
        <a:ext cx="1014546" cy="1014546"/>
      </dsp:txXfrm>
    </dsp:sp>
    <dsp:sp modelId="{BDF68D13-1E5E-3C4A-8591-A6F88E08FA6E}">
      <dsp:nvSpPr>
        <dsp:cNvPr id="0" name=""/>
        <dsp:cNvSpPr/>
      </dsp:nvSpPr>
      <dsp:spPr>
        <a:xfrm rot="2700000">
          <a:off x="3335367" y="1228993"/>
          <a:ext cx="380620" cy="4842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352089" y="1285470"/>
        <a:ext cx="266434" cy="290544"/>
      </dsp:txXfrm>
    </dsp:sp>
    <dsp:sp modelId="{FB6DB8D9-5133-3944-A651-366EB39F68EA}">
      <dsp:nvSpPr>
        <dsp:cNvPr id="0" name=""/>
        <dsp:cNvSpPr/>
      </dsp:nvSpPr>
      <dsp:spPr>
        <a:xfrm>
          <a:off x="3577081" y="1522516"/>
          <a:ext cx="1434786" cy="14347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Action</a:t>
          </a:r>
        </a:p>
      </dsp:txBody>
      <dsp:txXfrm>
        <a:off x="3787201" y="1732636"/>
        <a:ext cx="1014546" cy="1014546"/>
      </dsp:txXfrm>
    </dsp:sp>
    <dsp:sp modelId="{44CB51E6-0B46-3B4A-BF0A-D0AE3A0D95FA}">
      <dsp:nvSpPr>
        <dsp:cNvPr id="0" name=""/>
        <dsp:cNvSpPr/>
      </dsp:nvSpPr>
      <dsp:spPr>
        <a:xfrm rot="8100000">
          <a:off x="3350602" y="2751351"/>
          <a:ext cx="380620" cy="4842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448066" y="2807828"/>
        <a:ext cx="266434" cy="290544"/>
      </dsp:txXfrm>
    </dsp:sp>
    <dsp:sp modelId="{E057A486-2CE8-F54C-A40D-1A38ADF06F01}">
      <dsp:nvSpPr>
        <dsp:cNvPr id="0" name=""/>
        <dsp:cNvSpPr/>
      </dsp:nvSpPr>
      <dsp:spPr>
        <a:xfrm>
          <a:off x="2054723" y="3044874"/>
          <a:ext cx="1434786" cy="14347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Reward</a:t>
          </a:r>
        </a:p>
      </dsp:txBody>
      <dsp:txXfrm>
        <a:off x="2264843" y="3254994"/>
        <a:ext cx="1014546" cy="1014546"/>
      </dsp:txXfrm>
    </dsp:sp>
    <dsp:sp modelId="{C6C7579D-86D5-C541-82B7-93A6EEFFAE98}">
      <dsp:nvSpPr>
        <dsp:cNvPr id="0" name=""/>
        <dsp:cNvSpPr/>
      </dsp:nvSpPr>
      <dsp:spPr>
        <a:xfrm rot="13500000">
          <a:off x="1828244" y="2766585"/>
          <a:ext cx="380620" cy="4842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1925708" y="2903804"/>
        <a:ext cx="266434" cy="290544"/>
      </dsp:txXfrm>
    </dsp:sp>
    <dsp:sp modelId="{F2AE8575-87A4-D640-AA6E-D34ACF29D794}">
      <dsp:nvSpPr>
        <dsp:cNvPr id="0" name=""/>
        <dsp:cNvSpPr/>
      </dsp:nvSpPr>
      <dsp:spPr>
        <a:xfrm>
          <a:off x="532364" y="1522516"/>
          <a:ext cx="1434786" cy="14347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Investment</a:t>
          </a:r>
        </a:p>
      </dsp:txBody>
      <dsp:txXfrm>
        <a:off x="742484" y="1732636"/>
        <a:ext cx="1014546" cy="1014546"/>
      </dsp:txXfrm>
    </dsp:sp>
    <dsp:sp modelId="{7BE4D65A-1B36-8340-9909-2C7C97404C8D}">
      <dsp:nvSpPr>
        <dsp:cNvPr id="0" name=""/>
        <dsp:cNvSpPr/>
      </dsp:nvSpPr>
      <dsp:spPr>
        <a:xfrm rot="18900000">
          <a:off x="1813009" y="1244227"/>
          <a:ext cx="380620" cy="4842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829731" y="1381446"/>
        <a:ext cx="266434" cy="290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2CC42-9BB0-3946-A728-23A11F449DC3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1597E-2C91-6549-9DE4-FA647B453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1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D4743A-0965-9B4F-A128-829446764AF2}" type="datetime1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https://www.linkedin.com/in/shamparanidas/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84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53DA-2DB3-7A4B-986B-C35E737703CD}" type="datetime1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38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5844BC8-0F6E-724B-AD9F-E014B8399929}" type="datetime1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https://www.linkedin.com/in/shamparanidas/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59722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0582-B8BF-9541-8D3F-8E1B9349B8A0}" type="datetime1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42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45BD7-8C9C-C94F-AF77-DDFED6938AA9}" type="datetime1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09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FF05-8102-334F-A8CF-668703C5ACBF}" type="datetime1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0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5E085-B9D5-AE45-B288-48DF90F20B5E}" type="datetime1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1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7B867B28-5EA8-9E40-8785-3ECA3289E81C}" type="datetime1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9354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2D76141F-E3B9-A94B-9FE6-0A4E38F15432}" type="datetime1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332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E5CA-7516-614A-8636-3F2CB76D5580}" type="datetime1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7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A44F7-43B3-0B43-B354-D887F0D09CB1}" type="datetime1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4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DBBF488-BDB3-1D41-BB53-3AD43753B6FD}" type="datetime1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https://www.linkedin.com/in/shamparanidas/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3450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Product </a:t>
            </a:r>
            <a:r>
              <a:rPr dirty="0"/>
              <a:t>H</a:t>
            </a:r>
            <a:r>
              <a:rPr lang="en-US" dirty="0"/>
              <a:t>00k</a:t>
            </a:r>
            <a:r>
              <a:rPr dirty="0"/>
              <a:t> Model</a:t>
            </a:r>
            <a:r>
              <a:rPr lang="en-US" dirty="0"/>
              <a:t> </a:t>
            </a:r>
            <a:r>
              <a:rPr dirty="0"/>
              <a:t>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757" y="6061753"/>
            <a:ext cx="8928243" cy="659723"/>
          </a:xfrm>
        </p:spPr>
        <p:txBody>
          <a:bodyPr/>
          <a:lstStyle/>
          <a:p>
            <a:r>
              <a:rPr dirty="0"/>
              <a:t>A Framework for Habit-Forming 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9551D-0DBD-B84C-ABCA-7E17BB834EEA}"/>
              </a:ext>
            </a:extLst>
          </p:cNvPr>
          <p:cNvSpPr txBox="1"/>
          <p:nvPr/>
        </p:nvSpPr>
        <p:spPr>
          <a:xfrm>
            <a:off x="2727284" y="4366516"/>
            <a:ext cx="390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</a:t>
            </a:r>
            <a:r>
              <a:rPr lang="en-US" b="1" dirty="0"/>
              <a:t>SHAMPA RANI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8205242" cy="737498"/>
          </a:xfrm>
        </p:spPr>
        <p:txBody>
          <a:bodyPr>
            <a:normAutofit/>
          </a:bodyPr>
          <a:lstStyle/>
          <a:p>
            <a:r>
              <a:rPr sz="4200" dirty="0"/>
              <a:t>Why Habit Formation</a:t>
            </a:r>
            <a:r>
              <a:rPr lang="en-US" sz="4200" dirty="0"/>
              <a:t> </a:t>
            </a:r>
            <a:r>
              <a:rPr sz="4200" dirty="0"/>
              <a:t>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684962"/>
            <a:ext cx="7968936" cy="4602822"/>
          </a:xfrm>
        </p:spPr>
        <p:txBody>
          <a:bodyPr>
            <a:normAutofit/>
          </a:bodyPr>
          <a:lstStyle/>
          <a:p>
            <a:r>
              <a:rPr dirty="0"/>
              <a:t>Higher retention</a:t>
            </a:r>
            <a:endParaRPr lang="en-US" dirty="0"/>
          </a:p>
          <a:p>
            <a:pPr marL="502920" lvl="1">
              <a:buFont typeface="Courier New" panose="02070309020205020404" pitchFamily="49" charset="0"/>
              <a:buChar char="o"/>
            </a:pPr>
            <a:r>
              <a:rPr lang="en-US" dirty="0"/>
              <a:t>Retention is how many users continue using your product over time.</a:t>
            </a:r>
            <a:endParaRPr dirty="0"/>
          </a:p>
          <a:p>
            <a:r>
              <a:rPr dirty="0"/>
              <a:t>Lower </a:t>
            </a:r>
            <a:r>
              <a:rPr lang="en-US" dirty="0"/>
              <a:t>Customer Acquisition Cost</a:t>
            </a:r>
          </a:p>
          <a:p>
            <a:pPr marL="502920" lvl="1">
              <a:buFont typeface="Courier New" panose="02070309020205020404" pitchFamily="49" charset="0"/>
              <a:buChar char="o"/>
            </a:pPr>
            <a:r>
              <a:rPr lang="en-US" dirty="0"/>
              <a:t>CAC = The money spent to acquire one new user (ads, marketing, sales).</a:t>
            </a:r>
            <a:endParaRPr dirty="0"/>
          </a:p>
          <a:p>
            <a:r>
              <a:rPr dirty="0"/>
              <a:t>Better </a:t>
            </a:r>
            <a:r>
              <a:rPr lang="en-US" dirty="0"/>
              <a:t>Lifetime Value </a:t>
            </a:r>
          </a:p>
          <a:p>
            <a:pPr marL="502920" lvl="1">
              <a:buFont typeface="Courier New" panose="02070309020205020404" pitchFamily="49" charset="0"/>
              <a:buChar char="o"/>
            </a:pPr>
            <a:r>
              <a:rPr lang="en-US" dirty="0"/>
              <a:t>LTV = How much a user is worth over their full journey with your product.</a:t>
            </a:r>
          </a:p>
          <a:p>
            <a:r>
              <a:rPr dirty="0"/>
              <a:t>Strong competitive moat</a:t>
            </a:r>
            <a:endParaRPr lang="en-US" dirty="0"/>
          </a:p>
          <a:p>
            <a:pPr marL="502920" lvl="1">
              <a:buFont typeface="Courier New" panose="02070309020205020404" pitchFamily="49" charset="0"/>
              <a:buChar char="o"/>
            </a:pPr>
            <a:r>
              <a:rPr lang="en-US" dirty="0"/>
              <a:t>This creates emotional and behavioral lock-in, making users </a:t>
            </a:r>
            <a:r>
              <a:rPr lang="en-US" b="1" dirty="0"/>
              <a:t>less likely to switch</a:t>
            </a:r>
            <a:r>
              <a:rPr lang="en-US" dirty="0"/>
              <a:t> to competitors, even if alternatives appear.</a:t>
            </a:r>
            <a:endParaRPr dirty="0"/>
          </a:p>
          <a:p>
            <a:r>
              <a:rPr dirty="0"/>
              <a:t>Daily engagement</a:t>
            </a:r>
            <a:endParaRPr lang="en-US" dirty="0"/>
          </a:p>
          <a:p>
            <a:pPr marL="502920" lvl="1">
              <a:buFont typeface="Courier New" panose="02070309020205020404" pitchFamily="49" charset="0"/>
              <a:buChar char="o"/>
            </a:pPr>
            <a:r>
              <a:rPr lang="en-US" dirty="0"/>
              <a:t>Daily active usage is the strongest sign of habit formation.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0FEC9-6620-8D44-9C36-EE6C35F3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Retention Boost Through Habits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94A42-E044-0A4F-A595-EF646B82F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58" y="2285481"/>
            <a:ext cx="7552540" cy="377627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DE4A9-DEA7-3343-B113-C609FD03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30AE-3887-0F47-AB56-1438D20A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Hooked Cycle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ACC6-D81C-EA4A-9A6B-8958F81EB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58" y="2038902"/>
            <a:ext cx="7633742" cy="400507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Trigger</a:t>
            </a:r>
            <a:r>
              <a:rPr lang="en-US" dirty="0"/>
              <a:t> – What prompts the user to act (external cues at first, but eventually internal emotions or routines).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Action</a:t>
            </a:r>
            <a:r>
              <a:rPr lang="en-US" dirty="0"/>
              <a:t> – The simplest behavior a user performs in anticipation of a reward.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Variable Reward</a:t>
            </a:r>
            <a:r>
              <a:rPr lang="en-US" dirty="0"/>
              <a:t> – A satisfying, but unpredictable outcome that keeps users interested and coming back.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Investment</a:t>
            </a:r>
            <a:r>
              <a:rPr lang="en-US" dirty="0"/>
              <a:t> – The user puts something into the product (data, time, effort, customization), increasing its personal value and making future engagement more likely.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464B3-6645-9748-BD31-098A6BC7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  <p:extLst>
      <p:ext uri="{BB962C8B-B14F-4D97-AF65-F5344CB8AC3E}">
        <p14:creationId xmlns:p14="http://schemas.microsoft.com/office/powerpoint/2010/main" val="43251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Trigger: Spark the User’s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147300"/>
            <a:ext cx="7917566" cy="365759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External Triggers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Emails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Reminders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Social cues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b="1" dirty="0"/>
              <a:t>Internal Triggers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Feelings like boredom, pressure, curiosity, stress, and so 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Routines like commuting, studying, or checking the phone.</a:t>
            </a:r>
            <a:br>
              <a:rPr lang="en-US" sz="2100" dirty="0"/>
            </a:br>
            <a:r>
              <a:rPr lang="en-US" sz="2100" dirty="0"/>
              <a:t>These create </a:t>
            </a:r>
            <a:r>
              <a:rPr lang="en-US" sz="2100" i="1" dirty="0"/>
              <a:t>habit loops</a:t>
            </a:r>
            <a:r>
              <a:rPr lang="en-US" sz="2100" dirty="0"/>
              <a:t>, where users open the product without being prompted.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3094E-329A-474B-B826-FAA26CF5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AF484B0-E065-C744-AC3E-62FAA9408657}"/>
              </a:ext>
            </a:extLst>
          </p:cNvPr>
          <p:cNvSpPr/>
          <p:nvPr/>
        </p:nvSpPr>
        <p:spPr>
          <a:xfrm>
            <a:off x="938758" y="1962364"/>
            <a:ext cx="6746312" cy="5548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968936" cy="1492132"/>
          </a:xfrm>
        </p:spPr>
        <p:txBody>
          <a:bodyPr>
            <a:normAutofit/>
          </a:bodyPr>
          <a:lstStyle/>
          <a:p>
            <a:r>
              <a:rPr sz="4200" dirty="0"/>
              <a:t>Action</a:t>
            </a:r>
            <a:r>
              <a:rPr lang="en-US" sz="4200" dirty="0"/>
              <a:t>: User Behavior Toward a Reward</a:t>
            </a:r>
            <a:endParaRPr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681554"/>
            <a:ext cx="7633742" cy="3349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/>
              <a:t>People take action when:</a:t>
            </a:r>
          </a:p>
          <a:p>
            <a:r>
              <a:rPr lang="en-US" sz="1900" dirty="0"/>
              <a:t>Users are motivated</a:t>
            </a:r>
          </a:p>
          <a:p>
            <a:r>
              <a:rPr lang="en-US" sz="1900" dirty="0"/>
              <a:t>Users have the ability (ease, simplicity)</a:t>
            </a:r>
          </a:p>
          <a:p>
            <a:r>
              <a:rPr lang="en-US" sz="1900" dirty="0"/>
              <a:t>Users are prompted</a:t>
            </a:r>
            <a:endParaRPr lang="en-US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Actions must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Intuitive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Low effort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C3953-2302-7243-BA51-5CE20EC70B61}"/>
              </a:ext>
            </a:extLst>
          </p:cNvPr>
          <p:cNvSpPr txBox="1"/>
          <p:nvPr/>
        </p:nvSpPr>
        <p:spPr>
          <a:xfrm>
            <a:off x="938758" y="2054831"/>
            <a:ext cx="763374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Reduce friction → Faster actions → Higher engagement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2DFF1-D53C-EB48-A883-90F4BDD9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79C34D-D4D0-A64C-B59E-274A8B61DD74}"/>
              </a:ext>
            </a:extLst>
          </p:cNvPr>
          <p:cNvSpPr/>
          <p:nvPr/>
        </p:nvSpPr>
        <p:spPr>
          <a:xfrm>
            <a:off x="1993187" y="3113067"/>
            <a:ext cx="5034337" cy="1767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Variable Reward</a:t>
            </a:r>
            <a:r>
              <a:rPr lang="en-US" sz="4200" dirty="0"/>
              <a:t>: Keep Users Emotionally Engaged</a:t>
            </a:r>
            <a:endParaRPr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286002"/>
            <a:ext cx="7633742" cy="50856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• </a:t>
            </a:r>
            <a:r>
              <a:rPr b="1" dirty="0"/>
              <a:t>Social rewards • Content discovery • Mastery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4ACE4-DF4E-4C4C-9AE0-A388FBC4F7B1}"/>
              </a:ext>
            </a:extLst>
          </p:cNvPr>
          <p:cNvSpPr txBox="1"/>
          <p:nvPr/>
        </p:nvSpPr>
        <p:spPr>
          <a:xfrm>
            <a:off x="1839074" y="3287729"/>
            <a:ext cx="53117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The brain craves uncertainty.</a:t>
            </a:r>
          </a:p>
          <a:p>
            <a:r>
              <a:rPr lang="en-US" sz="2000" b="1" dirty="0"/>
              <a:t> </a:t>
            </a:r>
          </a:p>
          <a:p>
            <a:endParaRPr lang="en-US" sz="2000" b="1" dirty="0"/>
          </a:p>
          <a:p>
            <a:pPr algn="ctr"/>
            <a:r>
              <a:rPr lang="en-US" sz="2000" b="1" dirty="0"/>
              <a:t>It makes the reward more compelling.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0C11470D-0373-3A46-9AF0-DE9E58F64A01}"/>
              </a:ext>
            </a:extLst>
          </p:cNvPr>
          <p:cNvSpPr/>
          <p:nvPr/>
        </p:nvSpPr>
        <p:spPr>
          <a:xfrm>
            <a:off x="4453847" y="3747496"/>
            <a:ext cx="236305" cy="4006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BA2E4-889D-6D4F-BBF9-6AC75F65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672393-3331-914D-ADD5-914BD589D437}"/>
              </a:ext>
            </a:extLst>
          </p:cNvPr>
          <p:cNvSpPr/>
          <p:nvPr/>
        </p:nvSpPr>
        <p:spPr>
          <a:xfrm>
            <a:off x="938758" y="2286003"/>
            <a:ext cx="7444954" cy="4469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Investment</a:t>
            </a:r>
            <a:r>
              <a:rPr lang="en-US" sz="4200" dirty="0"/>
              <a:t>: Increase the Product’s Value Over Time</a:t>
            </a:r>
            <a:endParaRPr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286003"/>
            <a:ext cx="7633742" cy="590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>
                <a:solidFill>
                  <a:schemeClr val="tx1"/>
                </a:solidFill>
              </a:rPr>
              <a:t>Users invest time, data, and preferences → </a:t>
            </a:r>
            <a:r>
              <a:rPr lang="en-US" sz="1800" b="1" dirty="0">
                <a:solidFill>
                  <a:schemeClr val="tx1"/>
                </a:solidFill>
              </a:rPr>
              <a:t>I</a:t>
            </a:r>
            <a:r>
              <a:rPr sz="1800" b="1" dirty="0">
                <a:solidFill>
                  <a:schemeClr val="tx1"/>
                </a:solidFill>
              </a:rPr>
              <a:t>ncreasing product value.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225A7-8657-0043-AB7E-48166383B5B2}"/>
              </a:ext>
            </a:extLst>
          </p:cNvPr>
          <p:cNvSpPr txBox="1"/>
          <p:nvPr/>
        </p:nvSpPr>
        <p:spPr>
          <a:xfrm>
            <a:off x="938758" y="3030877"/>
            <a:ext cx="6949659" cy="1867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Investment Is Powerful</a:t>
            </a:r>
          </a:p>
          <a:p>
            <a:pPr marL="228600" indent="-228600" defTabSz="685800"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Makes the product smarter and more personalized.</a:t>
            </a:r>
          </a:p>
          <a:p>
            <a:pPr marL="228600" indent="-228600" defTabSz="685800"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Triggers tailored notifications and reminders.</a:t>
            </a:r>
          </a:p>
          <a:p>
            <a:pPr marL="228600" indent="-228600" defTabSz="685800"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Enhances recommendation accuracy.</a:t>
            </a:r>
          </a:p>
          <a:p>
            <a:pPr marL="228600" indent="-228600" defTabSz="685800"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Raises the switching cost, users don’t want to lose what they’ve built.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664E9-43B9-B84D-9BA4-36137F91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Habit Loop Overview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5062DA-B226-7943-9BF2-32B6F3443E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6443797"/>
              </p:ext>
            </p:extLst>
          </p:nvPr>
        </p:nvGraphicFramePr>
        <p:xfrm>
          <a:off x="938759" y="1458644"/>
          <a:ext cx="5544233" cy="4479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C95D6-6ED3-5B44-AB57-ABF930F9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Impact on Business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DAU/MAU ratio</a:t>
            </a:r>
          </a:p>
          <a:p>
            <a:r>
              <a:rPr dirty="0"/>
              <a:t>Reduced churn</a:t>
            </a:r>
          </a:p>
          <a:p>
            <a:r>
              <a:rPr dirty="0"/>
              <a:t>Higher session frequency</a:t>
            </a:r>
          </a:p>
          <a:p>
            <a:r>
              <a:rPr dirty="0"/>
              <a:t>Better conversion to premium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833B1-F3A5-5E42-8304-70342E2A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Strategic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Habit formation creates defensibility:</a:t>
            </a:r>
          </a:p>
          <a:p>
            <a:r>
              <a:rPr sz="1800" dirty="0"/>
              <a:t>Emotional stickiness</a:t>
            </a:r>
          </a:p>
          <a:p>
            <a:r>
              <a:rPr sz="1800" dirty="0"/>
              <a:t>Organic retention</a:t>
            </a:r>
          </a:p>
          <a:p>
            <a:r>
              <a:rPr sz="1800" dirty="0"/>
              <a:t>Predictable engagement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C47EB-21E4-ED4D-AE0A-52D23514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200" dirty="0"/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Hook Model transforms products into daily essentials.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0B4F5-1DF0-8845-8428-ED8344AC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https://www.linkedin.com/in/shamparanidas/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{FBA6F490-E337-844C-B4AB-DA75FF6812E3}tf10001071</Template>
  <TotalTime>103</TotalTime>
  <Words>564</Words>
  <Application>Microsoft Macintosh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MT</vt:lpstr>
      <vt:lpstr>Impact</vt:lpstr>
      <vt:lpstr>Wingdings</vt:lpstr>
      <vt:lpstr>Badge</vt:lpstr>
      <vt:lpstr>Product H00k Model Deck</vt:lpstr>
      <vt:lpstr>Why Habit Formation Matters</vt:lpstr>
      <vt:lpstr>Retention Boost Through Habits</vt:lpstr>
      <vt:lpstr>Hooked Cycle</vt:lpstr>
      <vt:lpstr>Trigger: Spark the User’s Behavior</vt:lpstr>
      <vt:lpstr>Action: User Behavior Toward a Reward</vt:lpstr>
      <vt:lpstr>Variable Reward: Keep Users Emotionally Engaged</vt:lpstr>
      <vt:lpstr>Investment: Increase the Product’s Value Over Time</vt:lpstr>
      <vt:lpstr>Habit Loop Overview</vt:lpstr>
      <vt:lpstr>Impact on Business Metrics</vt:lpstr>
      <vt:lpstr>Strategic Advantage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H00k Model: Investor Deck</dc:title>
  <dc:subject/>
  <dc:creator/>
  <cp:keywords/>
  <dc:description>generated using python-pptx</dc:description>
  <cp:lastModifiedBy>Microsoft Office User</cp:lastModifiedBy>
  <cp:revision>15</cp:revision>
  <dcterms:created xsi:type="dcterms:W3CDTF">2013-01-27T09:14:16Z</dcterms:created>
  <dcterms:modified xsi:type="dcterms:W3CDTF">2025-11-29T15:44:04Z</dcterms:modified>
  <cp:category/>
</cp:coreProperties>
</file>